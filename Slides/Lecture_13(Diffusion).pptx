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3" r:id="rId6"/>
    <p:sldId id="262" r:id="rId7"/>
    <p:sldId id="269" r:id="rId8"/>
    <p:sldId id="270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FF0000"/>
    <a:srgbClr val="0000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45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02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40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75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70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5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03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85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2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0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5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84B52-98D9-495A-8D93-DDDE29A0E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C0C64-4B72-4C8C-ABB5-7A6A39175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1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1469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04527"/>
          </a:xfrm>
        </p:spPr>
        <p:txBody>
          <a:bodyPr>
            <a:normAutofit/>
          </a:bodyPr>
          <a:lstStyle/>
          <a:p>
            <a:r>
              <a:rPr lang="en-US" dirty="0"/>
              <a:t>Diffusion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75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45C48-EEE7-1E54-7851-EA64BFC8A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2DD1A2-03F2-8182-4E36-632BD828CA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454" y="2445464"/>
            <a:ext cx="7633092" cy="311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52A483-D56B-7465-3EC4-F1D569E8CF3B}"/>
              </a:ext>
            </a:extLst>
          </p:cNvPr>
          <p:cNvSpPr txBox="1"/>
          <p:nvPr/>
        </p:nvSpPr>
        <p:spPr>
          <a:xfrm>
            <a:off x="3982065" y="5948516"/>
            <a:ext cx="410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Song et al.,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24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4730-1B50-FC7C-31D8-616B24AD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Diffusion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E9A43-C0F0-6149-9BF3-E8FF72C401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Learn the noise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of process.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Expect a probability distribution through noise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</m:t>
                      </m:r>
                      <m:r>
                        <a:rPr lang="en-US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b="0" i="1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30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E9A43-C0F0-6149-9BF3-E8FF72C401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14E970-2904-94D2-830B-F7D5DF7CAE50}"/>
              </a:ext>
            </a:extLst>
          </p:cNvPr>
          <p:cNvCxnSpPr/>
          <p:nvPr/>
        </p:nvCxnSpPr>
        <p:spPr>
          <a:xfrm flipH="1">
            <a:off x="6096000" y="4817806"/>
            <a:ext cx="688258" cy="1150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1E70769-6863-3270-F806-62CC35D0C7D5}"/>
              </a:ext>
            </a:extLst>
          </p:cNvPr>
          <p:cNvSpPr txBox="1"/>
          <p:nvPr/>
        </p:nvSpPr>
        <p:spPr>
          <a:xfrm>
            <a:off x="4896464" y="5988734"/>
            <a:ext cx="280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Predicated Noise from model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0B061E-ED26-7BA5-1477-999C64C9DA7D}"/>
              </a:ext>
            </a:extLst>
          </p:cNvPr>
          <p:cNvCxnSpPr>
            <a:cxnSpLocks/>
          </p:cNvCxnSpPr>
          <p:nvPr/>
        </p:nvCxnSpPr>
        <p:spPr>
          <a:xfrm>
            <a:off x="8131277" y="4770890"/>
            <a:ext cx="658761" cy="105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3E4E14F-5643-AA9B-31AE-3430B0555474}"/>
              </a:ext>
            </a:extLst>
          </p:cNvPr>
          <p:cNvSpPr txBox="1"/>
          <p:nvPr/>
        </p:nvSpPr>
        <p:spPr>
          <a:xfrm>
            <a:off x="7824019" y="5959238"/>
            <a:ext cx="2802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Ground Truth noise</a:t>
            </a:r>
          </a:p>
        </p:txBody>
      </p:sp>
    </p:spTree>
    <p:extLst>
      <p:ext uri="{BB962C8B-B14F-4D97-AF65-F5344CB8AC3E}">
        <p14:creationId xmlns:p14="http://schemas.microsoft.com/office/powerpoint/2010/main" val="2763763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B8927E-5237-3DB4-859C-973B03D22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6150"/>
            <a:ext cx="12192000" cy="801626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E6AE85-F115-CC68-47D8-B45B0CCBE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923" y="824418"/>
            <a:ext cx="10515600" cy="3965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add_noise</a:t>
            </a:r>
            <a:r>
              <a:rPr lang="en-US" dirty="0"/>
              <a:t>(x, t, </a:t>
            </a:r>
            <a:r>
              <a:rPr lang="en-US" dirty="0" err="1"/>
              <a:t>alpha_hat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de-DE" dirty="0"/>
              <a:t>	alpha_t = alpha_hat[t]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/>
              <a:t>alpha_t</a:t>
            </a:r>
            <a:r>
              <a:rPr lang="fr-FR" dirty="0"/>
              <a:t> = </a:t>
            </a:r>
            <a:r>
              <a:rPr lang="fr-FR" dirty="0" err="1"/>
              <a:t>alpha_t.view</a:t>
            </a:r>
            <a:r>
              <a:rPr lang="fr-FR" dirty="0"/>
              <a:t>(-1, 1, 1, 1)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sqrt_alpha_t</a:t>
            </a:r>
            <a:r>
              <a:rPr lang="en-US" dirty="0"/>
              <a:t> = </a:t>
            </a:r>
            <a:r>
              <a:rPr lang="en-US" dirty="0" err="1"/>
              <a:t>torch.sqrt</a:t>
            </a:r>
            <a:r>
              <a:rPr lang="en-US" dirty="0"/>
              <a:t>(</a:t>
            </a:r>
            <a:r>
              <a:rPr lang="en-US" dirty="0" err="1"/>
              <a:t>alpha_t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sqrt_one_minus_alpha_t</a:t>
            </a:r>
            <a:r>
              <a:rPr lang="en-US" dirty="0"/>
              <a:t> = </a:t>
            </a:r>
            <a:r>
              <a:rPr lang="en-US" dirty="0" err="1"/>
              <a:t>torch.sqrt</a:t>
            </a:r>
            <a:r>
              <a:rPr lang="en-US" dirty="0"/>
              <a:t>(1 - </a:t>
            </a:r>
            <a:r>
              <a:rPr lang="en-US" dirty="0" err="1"/>
              <a:t>alpha_t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noise = </a:t>
            </a:r>
            <a:r>
              <a:rPr lang="en-US" dirty="0" err="1"/>
              <a:t>torch.randn_like</a:t>
            </a:r>
            <a:r>
              <a:rPr lang="en-US" dirty="0"/>
              <a:t>(x)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>
                <a:solidFill>
                  <a:schemeClr val="bg1"/>
                </a:solidFill>
                <a:highlight>
                  <a:srgbClr val="000000"/>
                </a:highlight>
              </a:rPr>
              <a:t>noisy_x</a:t>
            </a:r>
            <a:r>
              <a:rPr lang="fr-FR" dirty="0"/>
              <a:t> = </a:t>
            </a:r>
            <a:r>
              <a:rPr lang="fr-FR" dirty="0" err="1">
                <a:highlight>
                  <a:srgbClr val="5B9BD5"/>
                </a:highlight>
              </a:rPr>
              <a:t>sqrt_alpha_t</a:t>
            </a:r>
            <a:r>
              <a:rPr lang="fr-FR" dirty="0">
                <a:highlight>
                  <a:srgbClr val="5B9BD5"/>
                </a:highlight>
              </a:rPr>
              <a:t> </a:t>
            </a:r>
            <a:r>
              <a:rPr lang="fr-FR" dirty="0"/>
              <a:t>* x + </a:t>
            </a:r>
            <a:r>
              <a:rPr lang="fr-FR" dirty="0" err="1">
                <a:highlight>
                  <a:srgbClr val="5B9BD5"/>
                </a:highlight>
              </a:rPr>
              <a:t>sqrt_one_minus_alpha_t</a:t>
            </a:r>
            <a:r>
              <a:rPr lang="fr-FR" dirty="0">
                <a:highlight>
                  <a:srgbClr val="5B9BD5"/>
                </a:highlight>
              </a:rPr>
              <a:t> </a:t>
            </a:r>
            <a:r>
              <a:rPr lang="fr-FR" dirty="0"/>
              <a:t>* </a:t>
            </a:r>
            <a:r>
              <a:rPr lang="fr-FR" dirty="0">
                <a:highlight>
                  <a:srgbClr val="FFFF00"/>
                </a:highlight>
              </a:rPr>
              <a:t>noise</a:t>
            </a:r>
          </a:p>
          <a:p>
            <a:pPr marL="0" indent="0">
              <a:buNone/>
            </a:pPr>
            <a:r>
              <a:rPr lang="en-US" dirty="0"/>
              <a:t>return </a:t>
            </a:r>
            <a:r>
              <a:rPr lang="en-US" dirty="0" err="1"/>
              <a:t>noisy_x</a:t>
            </a:r>
            <a:r>
              <a:rPr lang="en-US" dirty="0"/>
              <a:t>, noise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DF3A6D-FFAE-2F0B-4A5B-5E4D9E62B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9706"/>
            <a:ext cx="12192000" cy="828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2C7E8D-E4D0-B6A9-1897-20F8C5BF3B31}"/>
                  </a:ext>
                </a:extLst>
              </p:cNvPr>
              <p:cNvSpPr txBox="1"/>
              <p:nvPr/>
            </p:nvSpPr>
            <p:spPr>
              <a:xfrm>
                <a:off x="10257505" y="2388017"/>
                <a:ext cx="1081548" cy="64633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2C7E8D-E4D0-B6A9-1897-20F8C5BF3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7505" y="2388017"/>
                <a:ext cx="108154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263B00-DCB5-A91D-D3B1-454A10C48E82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9942873" y="3034348"/>
            <a:ext cx="855406" cy="742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5833F9-CED4-A8DE-4AAB-A790120A079C}"/>
                  </a:ext>
                </a:extLst>
              </p:cNvPr>
              <p:cNvSpPr txBox="1"/>
              <p:nvPr/>
            </p:nvSpPr>
            <p:spPr>
              <a:xfrm>
                <a:off x="6821129" y="1393265"/>
                <a:ext cx="1081548" cy="652486"/>
              </a:xfrm>
              <a:prstGeom prst="rect">
                <a:avLst/>
              </a:prstGeom>
              <a:solidFill>
                <a:srgbClr val="5B9BD5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3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E5833F9-CED4-A8DE-4AAB-A790120A0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129" y="1393265"/>
                <a:ext cx="1081548" cy="6524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999037-838E-5942-22B8-805FC2B9AD17}"/>
                  </a:ext>
                </a:extLst>
              </p:cNvPr>
              <p:cNvSpPr txBox="1"/>
              <p:nvPr/>
            </p:nvSpPr>
            <p:spPr>
              <a:xfrm>
                <a:off x="8675740" y="1363429"/>
                <a:ext cx="1848464" cy="763222"/>
              </a:xfrm>
              <a:prstGeom prst="rect">
                <a:avLst/>
              </a:prstGeom>
              <a:solidFill>
                <a:srgbClr val="5B9BD5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3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2999037-838E-5942-22B8-805FC2B9A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5740" y="1363429"/>
                <a:ext cx="1848464" cy="7632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B2213F-F147-1096-CF33-F0CC3E251B9F}"/>
              </a:ext>
            </a:extLst>
          </p:cNvPr>
          <p:cNvCxnSpPr>
            <a:cxnSpLocks/>
          </p:cNvCxnSpPr>
          <p:nvPr/>
        </p:nvCxnSpPr>
        <p:spPr>
          <a:xfrm flipH="1">
            <a:off x="4544961" y="2075099"/>
            <a:ext cx="2644878" cy="1702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0670A57-6BFD-27E3-23DA-A3D8146105BA}"/>
              </a:ext>
            </a:extLst>
          </p:cNvPr>
          <p:cNvCxnSpPr>
            <a:cxnSpLocks/>
          </p:cNvCxnSpPr>
          <p:nvPr/>
        </p:nvCxnSpPr>
        <p:spPr>
          <a:xfrm flipH="1">
            <a:off x="8246807" y="1719264"/>
            <a:ext cx="1666568" cy="2070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16F026-85D4-75F8-8B54-C4A0CEB95189}"/>
                  </a:ext>
                </a:extLst>
              </p:cNvPr>
              <p:cNvSpPr txBox="1"/>
              <p:nvPr/>
            </p:nvSpPr>
            <p:spPr>
              <a:xfrm>
                <a:off x="2413819" y="8778"/>
                <a:ext cx="6499123" cy="763222"/>
              </a:xfrm>
              <a:prstGeom prst="rect">
                <a:avLst/>
              </a:prstGeom>
              <a:solidFill>
                <a:srgbClr val="5B9BD5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3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3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36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3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sz="3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ad>
                        <m:radPr>
                          <m:degHide m:val="on"/>
                          <m:ctrlPr>
                            <a:rPr lang="en-US" sz="3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1 −</m:t>
                          </m:r>
                          <m:sSub>
                            <m:sSubPr>
                              <m:ctrlP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r>
                        <a:rPr lang="en-US" sz="3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r>
                        <a:rPr lang="en-US" sz="3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36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E16F026-85D4-75F8-8B54-C4A0CEB95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819" y="8778"/>
                <a:ext cx="6499123" cy="7632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469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03A8A-AF87-3B81-90DE-455D865AF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169EF8-E56C-2211-169F-C0AAF922AB39}"/>
                  </a:ext>
                </a:extLst>
              </p:cNvPr>
              <p:cNvSpPr txBox="1"/>
              <p:nvPr/>
            </p:nvSpPr>
            <p:spPr>
              <a:xfrm>
                <a:off x="2295832" y="1690688"/>
                <a:ext cx="6499123" cy="763222"/>
              </a:xfrm>
              <a:prstGeom prst="rect">
                <a:avLst/>
              </a:prstGeom>
              <a:solidFill>
                <a:srgbClr val="5B9BD5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3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3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36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3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sz="3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ad>
                        <m:radPr>
                          <m:degHide m:val="on"/>
                          <m:ctrlPr>
                            <a:rPr lang="en-US" sz="3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1 −</m:t>
                          </m:r>
                          <m:sSub>
                            <m:sSubPr>
                              <m:ctrlP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3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rad>
                      <m:r>
                        <a:rPr lang="en-US" sz="3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r>
                        <a:rPr lang="en-US" sz="3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36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169EF8-E56C-2211-169F-C0AAF922A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832" y="1690688"/>
                <a:ext cx="6499123" cy="7632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30A178-40D4-E883-6195-8E66F2D84682}"/>
                  </a:ext>
                </a:extLst>
              </p:cNvPr>
              <p:cNvSpPr txBox="1"/>
              <p:nvPr/>
            </p:nvSpPr>
            <p:spPr>
              <a:xfrm>
                <a:off x="3913238" y="3605981"/>
                <a:ext cx="63811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/>
                  <a:t>If we select to decrease over time (t):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1:0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Then the noise will increase over the time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30A178-40D4-E883-6195-8E66F2D84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238" y="3605981"/>
                <a:ext cx="6381136" cy="923330"/>
              </a:xfrm>
              <a:prstGeom prst="rect">
                <a:avLst/>
              </a:prstGeom>
              <a:blipFill>
                <a:blip r:embed="rId3"/>
                <a:stretch>
                  <a:fillRect l="-860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036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08351-248D-C7C1-E132-25E30A0E1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3" y="135859"/>
            <a:ext cx="7089057" cy="703185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for epoch in range(epochs):</a:t>
            </a:r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model.train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total_loss</a:t>
            </a:r>
            <a:r>
              <a:rPr lang="en-US" dirty="0"/>
              <a:t> = 0</a:t>
            </a:r>
          </a:p>
          <a:p>
            <a:pPr marL="0" indent="0">
              <a:buNone/>
            </a:pPr>
            <a:r>
              <a:rPr lang="en-US" dirty="0"/>
              <a:t>    for </a:t>
            </a:r>
            <a:r>
              <a:rPr lang="en-US" dirty="0" err="1"/>
              <a:t>imgs</a:t>
            </a:r>
            <a:r>
              <a:rPr lang="en-US" dirty="0"/>
              <a:t>, _ in loader:</a:t>
            </a:r>
          </a:p>
          <a:p>
            <a:pPr marL="0" indent="0">
              <a:buNone/>
            </a:pPr>
            <a:r>
              <a:rPr lang="en-US" dirty="0"/>
              <a:t>        </a:t>
            </a:r>
            <a:r>
              <a:rPr lang="en-US" dirty="0" err="1"/>
              <a:t>imgs</a:t>
            </a:r>
            <a:r>
              <a:rPr lang="en-US" dirty="0"/>
              <a:t> = imgs.to(device)</a:t>
            </a:r>
          </a:p>
          <a:p>
            <a:pPr marL="0" indent="0">
              <a:buNone/>
            </a:pPr>
            <a:r>
              <a:rPr lang="en-US" dirty="0"/>
              <a:t>       </a:t>
            </a:r>
          </a:p>
          <a:p>
            <a:pPr marL="0" indent="0">
              <a:buNone/>
            </a:pPr>
            <a:r>
              <a:rPr lang="en-US" dirty="0"/>
              <a:t>        t = </a:t>
            </a:r>
            <a:r>
              <a:rPr lang="en-US" dirty="0" err="1"/>
              <a:t>torch.randint</a:t>
            </a:r>
            <a:r>
              <a:rPr lang="en-US" dirty="0"/>
              <a:t>(0,timesteps, (</a:t>
            </a:r>
            <a:r>
              <a:rPr lang="en-US" dirty="0" err="1"/>
              <a:t>imgs.size</a:t>
            </a:r>
            <a:r>
              <a:rPr lang="en-US" dirty="0"/>
              <a:t>(0),),device=device)</a:t>
            </a:r>
          </a:p>
          <a:p>
            <a:pPr marL="0" indent="0">
              <a:buNone/>
            </a:pPr>
            <a:r>
              <a:rPr lang="en-US" dirty="0"/>
              <a:t>       </a:t>
            </a:r>
          </a:p>
          <a:p>
            <a:pPr marL="0" indent="0">
              <a:buNone/>
            </a:pPr>
            <a:r>
              <a:rPr lang="en-US" dirty="0"/>
              <a:t>        </a:t>
            </a:r>
            <a:r>
              <a:rPr lang="en-US" dirty="0" err="1"/>
              <a:t>noisy_imgs</a:t>
            </a:r>
            <a:r>
              <a:rPr lang="en-US" dirty="0">
                <a:highlight>
                  <a:srgbClr val="FFFF00"/>
                </a:highlight>
              </a:rPr>
              <a:t>, noise </a:t>
            </a:r>
            <a:r>
              <a:rPr lang="en-US" dirty="0"/>
              <a:t>= </a:t>
            </a:r>
            <a:r>
              <a:rPr lang="en-US" dirty="0" err="1"/>
              <a:t>add_noise</a:t>
            </a:r>
            <a:r>
              <a:rPr lang="en-US" dirty="0"/>
              <a:t>(</a:t>
            </a:r>
            <a:r>
              <a:rPr lang="en-US" dirty="0" err="1"/>
              <a:t>imgs</a:t>
            </a:r>
            <a:r>
              <a:rPr lang="en-US" dirty="0"/>
              <a:t>, t)</a:t>
            </a:r>
          </a:p>
          <a:p>
            <a:pPr marL="0" indent="0">
              <a:buNone/>
            </a:pPr>
            <a:r>
              <a:rPr lang="en-US" dirty="0"/>
              <a:t>       </a:t>
            </a:r>
          </a:p>
          <a:p>
            <a:pPr marL="0" indent="0">
              <a:buNone/>
            </a:pPr>
            <a:r>
              <a:rPr lang="en-US" dirty="0"/>
              <a:t>        </a:t>
            </a:r>
            <a:r>
              <a:rPr lang="en-US" dirty="0" err="1">
                <a:highlight>
                  <a:srgbClr val="00FFFF"/>
                </a:highlight>
              </a:rPr>
              <a:t>predicted_noise</a:t>
            </a:r>
            <a:r>
              <a:rPr lang="en-US" dirty="0">
                <a:highlight>
                  <a:srgbClr val="00FFFF"/>
                </a:highlight>
              </a:rPr>
              <a:t> </a:t>
            </a:r>
            <a:r>
              <a:rPr lang="en-US" dirty="0"/>
              <a:t>= model(</a:t>
            </a:r>
            <a:r>
              <a:rPr lang="en-US" dirty="0" err="1"/>
              <a:t>noisy_imgs,t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        # loss</a:t>
            </a:r>
          </a:p>
          <a:p>
            <a:pPr marL="0" indent="0">
              <a:buNone/>
            </a:pPr>
            <a:r>
              <a:rPr lang="en-US" dirty="0"/>
              <a:t>        loss = criterion(</a:t>
            </a:r>
            <a:r>
              <a:rPr lang="en-US" dirty="0" err="1"/>
              <a:t>predicted_noise,noise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       </a:t>
            </a:r>
            <a:r>
              <a:rPr lang="en-US" dirty="0" err="1"/>
              <a:t>optimizer.zero_grad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        </a:t>
            </a:r>
            <a:r>
              <a:rPr lang="en-US" dirty="0" err="1"/>
              <a:t>loss.backward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        </a:t>
            </a:r>
            <a:r>
              <a:rPr lang="en-US" dirty="0" err="1"/>
              <a:t>optimizer.step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        </a:t>
            </a:r>
            <a:r>
              <a:rPr lang="en-US" dirty="0" err="1"/>
              <a:t>total_loss</a:t>
            </a:r>
            <a:r>
              <a:rPr lang="en-US" dirty="0"/>
              <a:t> += </a:t>
            </a:r>
            <a:r>
              <a:rPr lang="en-US" dirty="0" err="1"/>
              <a:t>loss.item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avg_loss</a:t>
            </a:r>
            <a:r>
              <a:rPr lang="en-US" dirty="0"/>
              <a:t> = </a:t>
            </a:r>
            <a:r>
              <a:rPr lang="en-US" dirty="0" err="1"/>
              <a:t>total_loss</a:t>
            </a:r>
            <a:r>
              <a:rPr lang="en-US" dirty="0"/>
              <a:t> / </a:t>
            </a:r>
            <a:r>
              <a:rPr lang="en-US" dirty="0" err="1"/>
              <a:t>len</a:t>
            </a:r>
            <a:r>
              <a:rPr lang="en-US" dirty="0"/>
              <a:t>(loader)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32DC4-B0CB-51FA-5D5F-FA1F831E63AD}"/>
              </a:ext>
            </a:extLst>
          </p:cNvPr>
          <p:cNvSpPr txBox="1"/>
          <p:nvPr/>
        </p:nvSpPr>
        <p:spPr>
          <a:xfrm>
            <a:off x="8249265" y="1042219"/>
            <a:ext cx="216309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random (t) for each image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6BC699-67D3-ECE2-B854-2750F2AF3B5E}"/>
              </a:ext>
            </a:extLst>
          </p:cNvPr>
          <p:cNvCxnSpPr>
            <a:endCxn id="4" idx="1"/>
          </p:cNvCxnSpPr>
          <p:nvPr/>
        </p:nvCxnSpPr>
        <p:spPr>
          <a:xfrm flipV="1">
            <a:off x="855406" y="1365385"/>
            <a:ext cx="7393859" cy="817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84A892-BF82-23CA-CCA1-8288AFB3C0C4}"/>
                  </a:ext>
                </a:extLst>
              </p:cNvPr>
              <p:cNvSpPr txBox="1"/>
              <p:nvPr/>
            </p:nvSpPr>
            <p:spPr>
              <a:xfrm>
                <a:off x="8249265" y="2271745"/>
                <a:ext cx="1081548" cy="646331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84A892-BF82-23CA-CCA1-8288AFB3C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265" y="2271745"/>
                <a:ext cx="108154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638F24D-783B-6AB5-A6F7-BDEDDA46F924}"/>
              </a:ext>
            </a:extLst>
          </p:cNvPr>
          <p:cNvSpPr/>
          <p:nvPr/>
        </p:nvSpPr>
        <p:spPr>
          <a:xfrm>
            <a:off x="2172929" y="2585884"/>
            <a:ext cx="6086168" cy="365061"/>
          </a:xfrm>
          <a:custGeom>
            <a:avLst/>
            <a:gdLst>
              <a:gd name="connsiteX0" fmla="*/ 0 w 6086168"/>
              <a:gd name="connsiteY0" fmla="*/ 206477 h 365061"/>
              <a:gd name="connsiteX1" fmla="*/ 1140542 w 6086168"/>
              <a:gd name="connsiteY1" fmla="*/ 58993 h 365061"/>
              <a:gd name="connsiteX2" fmla="*/ 2782529 w 6086168"/>
              <a:gd name="connsiteY2" fmla="*/ 117987 h 365061"/>
              <a:gd name="connsiteX3" fmla="*/ 4139381 w 6086168"/>
              <a:gd name="connsiteY3" fmla="*/ 363793 h 365061"/>
              <a:gd name="connsiteX4" fmla="*/ 6086168 w 6086168"/>
              <a:gd name="connsiteY4" fmla="*/ 0 h 365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6168" h="365061">
                <a:moveTo>
                  <a:pt x="0" y="206477"/>
                </a:moveTo>
                <a:cubicBezTo>
                  <a:pt x="338393" y="140109"/>
                  <a:pt x="676787" y="73741"/>
                  <a:pt x="1140542" y="58993"/>
                </a:cubicBezTo>
                <a:cubicBezTo>
                  <a:pt x="1604297" y="44245"/>
                  <a:pt x="2282722" y="67187"/>
                  <a:pt x="2782529" y="117987"/>
                </a:cubicBezTo>
                <a:cubicBezTo>
                  <a:pt x="3282336" y="168787"/>
                  <a:pt x="3588775" y="383457"/>
                  <a:pt x="4139381" y="363793"/>
                </a:cubicBezTo>
                <a:cubicBezTo>
                  <a:pt x="4689987" y="344129"/>
                  <a:pt x="5388077" y="172064"/>
                  <a:pt x="6086168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026AB1-B5BD-5654-26B0-5BA490BC9DB2}"/>
                  </a:ext>
                </a:extLst>
              </p:cNvPr>
              <p:cNvSpPr txBox="1"/>
              <p:nvPr/>
            </p:nvSpPr>
            <p:spPr>
              <a:xfrm>
                <a:off x="8249265" y="3616759"/>
                <a:ext cx="1081548" cy="646331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3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026AB1-B5BD-5654-26B0-5BA490BC9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265" y="3616759"/>
                <a:ext cx="108154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E585ABC-B807-2714-EA16-C33110FCDB62}"/>
              </a:ext>
            </a:extLst>
          </p:cNvPr>
          <p:cNvSpPr/>
          <p:nvPr/>
        </p:nvSpPr>
        <p:spPr>
          <a:xfrm>
            <a:off x="2271252" y="3834581"/>
            <a:ext cx="5899354" cy="787793"/>
          </a:xfrm>
          <a:custGeom>
            <a:avLst/>
            <a:gdLst>
              <a:gd name="connsiteX0" fmla="*/ 0 w 5899354"/>
              <a:gd name="connsiteY0" fmla="*/ 0 h 787793"/>
              <a:gd name="connsiteX1" fmla="*/ 2192593 w 5899354"/>
              <a:gd name="connsiteY1" fmla="*/ 324464 h 787793"/>
              <a:gd name="connsiteX2" fmla="*/ 3883742 w 5899354"/>
              <a:gd name="connsiteY2" fmla="*/ 786580 h 787793"/>
              <a:gd name="connsiteX3" fmla="*/ 5899354 w 5899354"/>
              <a:gd name="connsiteY3" fmla="*/ 176980 h 787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9354" h="787793">
                <a:moveTo>
                  <a:pt x="0" y="0"/>
                </a:moveTo>
                <a:cubicBezTo>
                  <a:pt x="772651" y="96683"/>
                  <a:pt x="1545303" y="193367"/>
                  <a:pt x="2192593" y="324464"/>
                </a:cubicBezTo>
                <a:cubicBezTo>
                  <a:pt x="2839883" y="455561"/>
                  <a:pt x="3265949" y="811161"/>
                  <a:pt x="3883742" y="786580"/>
                </a:cubicBezTo>
                <a:cubicBezTo>
                  <a:pt x="4501535" y="761999"/>
                  <a:pt x="5200444" y="469489"/>
                  <a:pt x="5899354" y="17698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701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48602-5BD0-D940-F7D1-871D80DE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DEDDB9-3AB0-CA02-1A0B-EDD124D2E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6963" y="665419"/>
            <a:ext cx="4907467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629929-69ED-B5AF-B441-1C2455839ED3}"/>
              </a:ext>
            </a:extLst>
          </p:cNvPr>
          <p:cNvSpPr txBox="1"/>
          <p:nvPr/>
        </p:nvSpPr>
        <p:spPr>
          <a:xfrm>
            <a:off x="3706761" y="5555226"/>
            <a:ext cx="623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Results after 20 epochs ~ 64 minutes</a:t>
            </a:r>
          </a:p>
        </p:txBody>
      </p:sp>
    </p:spTree>
    <p:extLst>
      <p:ext uri="{BB962C8B-B14F-4D97-AF65-F5344CB8AC3E}">
        <p14:creationId xmlns:p14="http://schemas.microsoft.com/office/powerpoint/2010/main" val="2092627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3D3CC-233B-114A-D790-723D999BD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Pre-trained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4B709-BB07-13B1-62E0-FC9B514FD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776749"/>
            <a:ext cx="10515600" cy="634180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import torch</a:t>
            </a:r>
          </a:p>
          <a:p>
            <a:pPr marL="0" indent="0">
              <a:buNone/>
            </a:pPr>
            <a:r>
              <a:rPr lang="en-US" dirty="0"/>
              <a:t>from diffusers import </a:t>
            </a:r>
            <a:r>
              <a:rPr lang="en-US" dirty="0" err="1"/>
              <a:t>DDPMPipeline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model_id</a:t>
            </a:r>
            <a:r>
              <a:rPr lang="en-US" dirty="0"/>
              <a:t> = "google/ddpm-cifar10-32"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pipe = </a:t>
            </a:r>
            <a:r>
              <a:rPr lang="en-US" dirty="0" err="1"/>
              <a:t>DDPMPipeline.from_pretrained</a:t>
            </a:r>
            <a:r>
              <a:rPr lang="en-US" dirty="0"/>
              <a:t>(</a:t>
            </a:r>
            <a:r>
              <a:rPr lang="en-US" dirty="0" err="1"/>
              <a:t>model_id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pipe = pipe.to("</a:t>
            </a:r>
            <a:r>
              <a:rPr lang="en-US" dirty="0" err="1"/>
              <a:t>cuda</a:t>
            </a:r>
            <a:r>
              <a:rPr lang="en-US" dirty="0"/>
              <a:t>" if </a:t>
            </a:r>
            <a:r>
              <a:rPr lang="en-US" dirty="0" err="1"/>
              <a:t>torch.cuda.is_available</a:t>
            </a:r>
            <a:r>
              <a:rPr lang="en-US" dirty="0"/>
              <a:t>() else "</a:t>
            </a:r>
            <a:r>
              <a:rPr lang="en-US" dirty="0" err="1"/>
              <a:t>cpu</a:t>
            </a:r>
            <a:r>
              <a:rPr lang="en-US" dirty="0"/>
              <a:t>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Set random seed (controls noise)</a:t>
            </a:r>
          </a:p>
          <a:p>
            <a:pPr marL="0" indent="0">
              <a:buNone/>
            </a:pPr>
            <a:r>
              <a:rPr lang="en-US" dirty="0"/>
              <a:t>generator = </a:t>
            </a:r>
            <a:r>
              <a:rPr lang="en-US" dirty="0" err="1"/>
              <a:t>torch.Generator</a:t>
            </a:r>
            <a:r>
              <a:rPr lang="en-US" dirty="0"/>
              <a:t>(device=</a:t>
            </a:r>
            <a:r>
              <a:rPr lang="en-US" dirty="0" err="1"/>
              <a:t>pipe.device</a:t>
            </a:r>
            <a:r>
              <a:rPr lang="en-US" dirty="0"/>
              <a:t>).</a:t>
            </a:r>
            <a:r>
              <a:rPr lang="en-US" dirty="0" err="1"/>
              <a:t>manual_seed</a:t>
            </a:r>
            <a:r>
              <a:rPr lang="en-US" dirty="0"/>
              <a:t>(0)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Generate image from pure noise</a:t>
            </a:r>
          </a:p>
          <a:p>
            <a:pPr marL="0" indent="0">
              <a:buNone/>
            </a:pPr>
            <a:r>
              <a:rPr lang="en-US" dirty="0"/>
              <a:t>image = pipe(   </a:t>
            </a:r>
            <a:r>
              <a:rPr lang="en-US" dirty="0" err="1"/>
              <a:t>batch_size</a:t>
            </a:r>
            <a:r>
              <a:rPr lang="en-US" dirty="0"/>
              <a:t>=1, generator=generator,</a:t>
            </a:r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num_inference_steps</a:t>
            </a:r>
            <a:r>
              <a:rPr lang="en-US" dirty="0"/>
              <a:t>=100   </a:t>
            </a:r>
          </a:p>
          <a:p>
            <a:pPr marL="0" indent="0">
              <a:buNone/>
            </a:pPr>
            <a:r>
              <a:rPr lang="en-US" dirty="0"/>
              <a:t>).images[0]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 err="1"/>
              <a:t>image.save</a:t>
            </a:r>
            <a:r>
              <a:rPr lang="en-US" dirty="0"/>
              <a:t>("imge.png")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D60B17-A64B-E98D-D75C-E83519AF4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173" y="5532437"/>
            <a:ext cx="1325563" cy="132556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4F882AD-E903-AEFC-29AF-45C08ECC63B5}"/>
              </a:ext>
            </a:extLst>
          </p:cNvPr>
          <p:cNvSpPr/>
          <p:nvPr/>
        </p:nvSpPr>
        <p:spPr>
          <a:xfrm>
            <a:off x="3273168" y="6081251"/>
            <a:ext cx="639097" cy="5225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683BDA4-E72B-C8AC-9566-741038EA0A42}"/>
              </a:ext>
            </a:extLst>
          </p:cNvPr>
          <p:cNvSpPr/>
          <p:nvPr/>
        </p:nvSpPr>
        <p:spPr>
          <a:xfrm>
            <a:off x="5695644" y="5970280"/>
            <a:ext cx="639097" cy="5225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7EA89-F225-38C5-9AB8-C672922E6BDB}"/>
              </a:ext>
            </a:extLst>
          </p:cNvPr>
          <p:cNvSpPr txBox="1"/>
          <p:nvPr/>
        </p:nvSpPr>
        <p:spPr>
          <a:xfrm>
            <a:off x="6459793" y="60105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~ 1 minute</a:t>
            </a:r>
          </a:p>
        </p:txBody>
      </p:sp>
    </p:spTree>
    <p:extLst>
      <p:ext uri="{BB962C8B-B14F-4D97-AF65-F5344CB8AC3E}">
        <p14:creationId xmlns:p14="http://schemas.microsoft.com/office/powerpoint/2010/main" val="14280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97B5-289E-EBC5-127E-FF5E463A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5273B-830A-9918-73D1-2778594CD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356" y="1951703"/>
            <a:ext cx="1500380" cy="14772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267032-547C-4A56-95B9-32F7638ABAF2}"/>
                  </a:ext>
                </a:extLst>
              </p:cNvPr>
              <p:cNvSpPr txBox="1"/>
              <p:nvPr/>
            </p:nvSpPr>
            <p:spPr>
              <a:xfrm>
                <a:off x="2644877" y="2505685"/>
                <a:ext cx="15731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267032-547C-4A56-95B9-32F7638AB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877" y="2505685"/>
                <a:ext cx="1573162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D9E32F-FE49-56BB-0421-F02B31598D6B}"/>
                  </a:ext>
                </a:extLst>
              </p:cNvPr>
              <p:cNvSpPr txBox="1"/>
              <p:nvPr/>
            </p:nvSpPr>
            <p:spPr>
              <a:xfrm>
                <a:off x="1858911" y="3890651"/>
                <a:ext cx="103707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=0.9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D9E32F-FE49-56BB-0421-F02B31598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911" y="3890651"/>
                <a:ext cx="1037079" cy="1107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DEF4B61-F8AC-649D-73D2-250A54DA4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4356" y="5178067"/>
            <a:ext cx="1465447" cy="12325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E8F90-D812-DFCE-1BE5-6C621F92AA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4767" y="5150212"/>
            <a:ext cx="1551657" cy="12325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3DE39D-848C-9054-6BC5-8A617CA1B6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9919" y="5122530"/>
            <a:ext cx="1393544" cy="1260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E736FE-B118-6546-1424-000E26C925B8}"/>
                  </a:ext>
                </a:extLst>
              </p:cNvPr>
              <p:cNvSpPr txBox="1"/>
              <p:nvPr/>
            </p:nvSpPr>
            <p:spPr>
              <a:xfrm>
                <a:off x="4165300" y="4759546"/>
                <a:ext cx="903557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sz="2000" b="1" i="1" baseline="-25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000" b="1" baseline="-25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E736FE-B118-6546-1424-000E26C92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300" y="4759546"/>
                <a:ext cx="903557" cy="392993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019498-6FFA-BE82-6BF6-FCC8656B7931}"/>
                  </a:ext>
                </a:extLst>
              </p:cNvPr>
              <p:cNvSpPr txBox="1"/>
              <p:nvPr/>
            </p:nvSpPr>
            <p:spPr>
              <a:xfrm>
                <a:off x="5842609" y="4717814"/>
                <a:ext cx="903557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sz="2000" b="1" i="1" baseline="-25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baseline="-25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019498-6FFA-BE82-6BF6-FCC8656B7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609" y="4717814"/>
                <a:ext cx="903557" cy="392993"/>
              </a:xfrm>
              <a:prstGeom prst="rect">
                <a:avLst/>
              </a:prstGeom>
              <a:blipFill>
                <a:blip r:embed="rId9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01CCF4-C28D-59E1-97C0-4C572A1DA22E}"/>
                  </a:ext>
                </a:extLst>
              </p:cNvPr>
              <p:cNvSpPr txBox="1"/>
              <p:nvPr/>
            </p:nvSpPr>
            <p:spPr>
              <a:xfrm>
                <a:off x="7661577" y="4729537"/>
                <a:ext cx="903557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  <m:r>
                        <a:rPr lang="en-US" sz="2000" b="1" i="1" baseline="-25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baseline="-25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01CCF4-C28D-59E1-97C0-4C572A1DA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77" y="4729537"/>
                <a:ext cx="903557" cy="392993"/>
              </a:xfrm>
              <a:prstGeom prst="rect">
                <a:avLst/>
              </a:prstGeom>
              <a:blipFill>
                <a:blip r:embed="rId10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629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A951-B306-9582-8970-FA8DFD8E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E0BB2-133E-BC8B-9B73-9ACFCB1D5B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68160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ad>
                        <m:radPr>
                          <m:degHide m:val="on"/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</m:e>
                      </m:ra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8E0BB2-133E-BC8B-9B73-9ACFCB1D5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68160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B4D057-B445-40C7-B14E-AE56009B9CD1}"/>
                  </a:ext>
                </a:extLst>
              </p:cNvPr>
              <p:cNvSpPr txBox="1"/>
              <p:nvPr/>
            </p:nvSpPr>
            <p:spPr>
              <a:xfrm>
                <a:off x="3873910" y="2765246"/>
                <a:ext cx="645979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= 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𝟗𝟒𝟗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∗ 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+     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𝟑𝟏𝟔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B4D057-B445-40C7-B14E-AE56009B9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910" y="2765246"/>
                <a:ext cx="6459793" cy="400110"/>
              </a:xfrm>
              <a:prstGeom prst="rect">
                <a:avLst/>
              </a:prstGeom>
              <a:blipFill>
                <a:blip r:embed="rId3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3E677BE-2EFB-261C-E7E6-EC4F18B62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243" y="3529781"/>
            <a:ext cx="1900515" cy="15937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DC3708-BB00-EA84-23D5-49D0449D8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9171" y="3529781"/>
            <a:ext cx="2177771" cy="14239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1EB221-1F3F-2E23-DDF1-AB8818166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403" y="4179175"/>
            <a:ext cx="432003" cy="3240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6B49DA-A042-D410-9E79-506A90DEFD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0786" y="3529780"/>
            <a:ext cx="1899419" cy="15937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935DCE-1423-795A-792E-C977488BBA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3910" y="4106212"/>
            <a:ext cx="546798" cy="47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05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7380-0A32-C081-2586-5FEF5D505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65FB2-7EE9-B407-19DE-6ECD3523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F9DE41-F99A-B231-79DB-E8620CB8E3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68160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0.8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ad>
                        <m:radPr>
                          <m:degHide m:val="on"/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F9DE41-F99A-B231-79DB-E8620CB8E3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68160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96E83A-C44E-6C9F-8472-D0FB46F22141}"/>
                  </a:ext>
                </a:extLst>
              </p:cNvPr>
              <p:cNvSpPr txBox="1"/>
              <p:nvPr/>
            </p:nvSpPr>
            <p:spPr>
              <a:xfrm>
                <a:off x="3873910" y="2670073"/>
                <a:ext cx="545441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=</m:t>
                        </m:r>
                        <m:r>
                          <m:rPr>
                            <m:nor/>
                          </m:rPr>
                          <a:rPr lang="en-US" sz="2000"/>
                          <m:t>0.894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 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+</m:t>
                    </m:r>
                    <m:r>
                      <m:rPr>
                        <m:nor/>
                      </m:rPr>
                      <a:rPr lang="en-US" sz="2000"/>
                      <m:t>0.447 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96E83A-C44E-6C9F-8472-D0FB46F22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910" y="2670073"/>
                <a:ext cx="545441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E89F177-9821-F3FF-76B2-1B13F1D98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403" y="4179175"/>
            <a:ext cx="432003" cy="3240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1DD417-FC82-51C3-2310-F3BAE4C28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910" y="4106212"/>
            <a:ext cx="546798" cy="4730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E1A892-2E8B-6F86-7E31-E378122C9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1979" y="3461604"/>
            <a:ext cx="1816153" cy="1435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C8469B-B598-FB5C-C2C4-087123FE2D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2677" y="3388641"/>
            <a:ext cx="2231680" cy="14351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D3BB67-EA49-321D-5CE4-805C67B8FE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1327" y="3547283"/>
            <a:ext cx="1639361" cy="133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75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C5CF-41E7-5BFE-DE48-F22B315A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DCD0-5F4B-73A2-66DE-93970C320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0CC76-3B37-20CB-3214-3D64253458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68160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0.7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ad>
                        <m:radPr>
                          <m:degHide m:val="on"/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0CC76-3B37-20CB-3214-3D64253458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68160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B4AD76-2DE9-ED21-8951-4D94727F61F8}"/>
                  </a:ext>
                </a:extLst>
              </p:cNvPr>
              <p:cNvSpPr txBox="1"/>
              <p:nvPr/>
            </p:nvSpPr>
            <p:spPr>
              <a:xfrm>
                <a:off x="3873910" y="2670073"/>
                <a:ext cx="545441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=</m:t>
                        </m:r>
                        <m:r>
                          <m:rPr>
                            <m:nor/>
                          </m:rPr>
                          <a:rPr lang="en-US" sz="2000"/>
                          <m:t>0.837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 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+</m:t>
                    </m:r>
                    <m:r>
                      <m:rPr>
                        <m:nor/>
                      </m:rPr>
                      <a:rPr lang="en-US" sz="2000"/>
                      <m:t>0.548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B4AD76-2DE9-ED21-8951-4D94727F6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910" y="2670073"/>
                <a:ext cx="545441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9B727A4-E453-D30D-E982-F849FAF6B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403" y="4179175"/>
            <a:ext cx="432003" cy="3240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B8FC0A1-CFAB-CC35-3230-B691F8A39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910" y="4106212"/>
            <a:ext cx="546798" cy="4730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AE7A47-EB6D-E7BC-9084-63329E15EE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640" y="3395785"/>
            <a:ext cx="1694830" cy="1420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5C4277-03DA-3BC7-3E67-27A593DF1A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3273" y="3395785"/>
            <a:ext cx="2175051" cy="14208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B54EDC-04CD-1615-0513-5B2A7D9B49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7417" y="3348484"/>
            <a:ext cx="1701285" cy="142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08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1690</TotalTime>
  <Words>542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Diffusion Model</vt:lpstr>
      <vt:lpstr>PowerPoint Presentation</vt:lpstr>
      <vt:lpstr>Diffusion Model</vt:lpstr>
      <vt:lpstr>PowerPoint Presentation</vt:lpstr>
      <vt:lpstr>PowerPoint Presentation</vt:lpstr>
      <vt:lpstr>PowerPoint Presentation</vt:lpstr>
      <vt:lpstr>PowerPoint Presentation</vt:lpstr>
      <vt:lpstr>Pre-trained Model</vt:lpstr>
      <vt:lpstr>Example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AutoEncoder Image Encoding Case study</dc:title>
  <dc:creator>acer</dc:creator>
  <cp:lastModifiedBy>i2c</cp:lastModifiedBy>
  <cp:revision>167</cp:revision>
  <dcterms:created xsi:type="dcterms:W3CDTF">2021-11-08T09:48:36Z</dcterms:created>
  <dcterms:modified xsi:type="dcterms:W3CDTF">2026-05-28T11:02:36Z</dcterms:modified>
</cp:coreProperties>
</file>